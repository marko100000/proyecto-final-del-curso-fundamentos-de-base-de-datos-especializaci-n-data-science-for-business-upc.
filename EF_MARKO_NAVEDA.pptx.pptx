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dv5kyH8YYI9zr4TxDMK7mFuIR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C53F58-EB1F-4049-8362-224A4B6C9E4B}">
  <a:tblStyle styleId="{D4C53F58-EB1F-4049-8362-224A4B6C9E4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527b7d6d9_1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527b7d6d9_1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527b7d6d9_3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527b7d6d9_3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527b7d6d9_1_7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527b7d6d9_1_7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527b7d6d9_1_78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527b7d6d9_1_7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527b7d6d9_1_9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527b7d6d9_1_9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527b7d6d9_1_108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527b7d6d9_1_10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527b7d6d9_1_11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527b7d6d9_1_11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527b7d6d9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g3f527b7d6d9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f527b7d6d9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527b7d6d9_3_4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527b7d6d9_3_4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527b7d6d9_3_48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527b7d6d9_3_4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527b7d6d9_3_5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527b7d6d9_3_5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527b7d6d9_3_5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f527b7d6d9_3_5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527b7d6d9_3_6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f527b7d6d9_3_6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527b7d6d9_3_6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f527b7d6d9_3_6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527b7d6d9_3_5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527b7d6d9_3_5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9692640" y="-1188720"/>
            <a:ext cx="4206240" cy="4206240"/>
          </a:xfrm>
          <a:prstGeom prst="ellipse">
            <a:avLst/>
          </a:prstGeom>
          <a:solidFill>
            <a:srgbClr val="141A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10332720" y="-548640"/>
            <a:ext cx="2926080" cy="2926080"/>
          </a:xfrm>
          <a:prstGeom prst="ellipse">
            <a:avLst/>
          </a:prstGeom>
          <a:solidFill>
            <a:srgbClr val="24306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-1097280" y="4595970"/>
            <a:ext cx="3840480" cy="3840480"/>
          </a:xfrm>
          <a:prstGeom prst="ellipse">
            <a:avLst/>
          </a:prstGeom>
          <a:solidFill>
            <a:srgbClr val="141A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731520" y="1475025"/>
            <a:ext cx="8961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SEGMENTACIÓN DE CLIENTES DE SEGUROS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731520" y="2023110"/>
            <a:ext cx="960120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b="1" lang="en-US" sz="3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BM Watson Marketing Customer Value 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1"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Análisis de Clúster con K-Means</a:t>
            </a:r>
            <a:endParaRPr i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17;p1"/>
          <p:cNvCxnSpPr/>
          <p:nvPr/>
        </p:nvCxnSpPr>
        <p:spPr>
          <a:xfrm>
            <a:off x="822960" y="4434840"/>
            <a:ext cx="1097280" cy="0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1"/>
          <p:cNvSpPr/>
          <p:nvPr/>
        </p:nvSpPr>
        <p:spPr>
          <a:xfrm>
            <a:off x="1994813" y="4285695"/>
            <a:ext cx="7315200" cy="18984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Integrantes: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	- Julio López Talavera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	- Marko Naveda Samamé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	- Victor Pineda Alvarado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	- Rodrigo Arestegui Condor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548640" y="411480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Objetivo del Caso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566928" y="1051560"/>
            <a:ext cx="502920" cy="6400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548640" y="1417320"/>
            <a:ext cx="5349240" cy="1965960"/>
          </a:xfrm>
          <a:prstGeom prst="roundRect">
            <a:avLst>
              <a:gd fmla="val 3721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822960" y="1691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508760" y="167335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Descripción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822960" y="2240280"/>
            <a:ext cx="4800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La base de datos cuenta con 9134 datos de clientes en donde se incluyen variables numéricas y categóricas.</a:t>
            </a:r>
            <a:endParaRPr sz="1250">
              <a:solidFill>
                <a:srgbClr val="4450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Actualmente no existe una segmentación una adecuada </a:t>
            </a:r>
            <a:r>
              <a:rPr lang="en-US" sz="125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segmentación</a:t>
            </a:r>
            <a:r>
              <a:rPr lang="en-US" sz="125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 de los mismos.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080760" y="1417320"/>
            <a:ext cx="5532120" cy="1965960"/>
          </a:xfrm>
          <a:prstGeom prst="roundRect">
            <a:avLst>
              <a:gd fmla="val 372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355080" y="1691640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355080" y="1691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040880" y="1673352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355080" y="2240280"/>
            <a:ext cx="5074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Aplicar el algoritmo K-Means para segmentar a los clientes en grupos homogéneos según su comportamiento financiero y de consumo del seguro, permitiendo diseñar estrategias comerciales, de retención y de gestión de riesgo diferenciadas por segmento.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3703320"/>
            <a:ext cx="3611880" cy="2331720"/>
          </a:xfrm>
          <a:prstGeom prst="roundRect">
            <a:avLst>
              <a:gd fmla="val 3137" name="adj"/>
            </a:avLst>
          </a:prstGeom>
          <a:solidFill>
            <a:srgbClr val="F4F6FC"/>
          </a:solidFill>
          <a:ln cap="flat" cmpd="sng" w="12700">
            <a:solidFill>
              <a:srgbClr val="E1E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77240" y="3959352"/>
            <a:ext cx="457200" cy="4572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77240" y="39593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77240" y="4526280"/>
            <a:ext cx="3154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Determinar el número óptimo de clústeres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77240" y="5074920"/>
            <a:ext cx="3154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Evaluar distintos valores de k mediante el coeficiente de Silhouette para elegir la segmentación con mejor separación.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297680" y="3703320"/>
            <a:ext cx="3611880" cy="2331720"/>
          </a:xfrm>
          <a:prstGeom prst="roundRect">
            <a:avLst>
              <a:gd fmla="val 3137" name="adj"/>
            </a:avLst>
          </a:prstGeom>
          <a:solidFill>
            <a:srgbClr val="F4F6FC"/>
          </a:solidFill>
          <a:ln cap="flat" cmpd="sng" w="12700">
            <a:solidFill>
              <a:srgbClr val="E1E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526280" y="3959352"/>
            <a:ext cx="457200" cy="4572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26280" y="39593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26280" y="4526280"/>
            <a:ext cx="3154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Caracterizar cada segmento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26280" y="5074920"/>
            <a:ext cx="3154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Describir cada grupo según valor del cliente, ingreso, prima mensual y monto de reclamaciones.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046720" y="3703320"/>
            <a:ext cx="3611880" cy="2331720"/>
          </a:xfrm>
          <a:prstGeom prst="roundRect">
            <a:avLst>
              <a:gd fmla="val 3137" name="adj"/>
            </a:avLst>
          </a:prstGeom>
          <a:solidFill>
            <a:srgbClr val="F4F6FC"/>
          </a:solidFill>
          <a:ln cap="flat" cmpd="sng" w="12700">
            <a:solidFill>
              <a:srgbClr val="E1E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275320" y="3959352"/>
            <a:ext cx="457200" cy="4572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275320" y="39593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275320" y="4526280"/>
            <a:ext cx="3154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Perfilar con variables categóricas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275320" y="5074920"/>
            <a:ext cx="3154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Analizar cobertura, empleo, género, estado civil, canal de venta y clase de vehículo por segmento para orientar acciones comerciales.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Descripción de las Variables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Variables Numéricas  ·  usadas en el modelo K-Means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66928" y="1280160"/>
            <a:ext cx="502920" cy="6400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48640" y="1554480"/>
            <a:ext cx="11091672" cy="1051560"/>
          </a:xfrm>
          <a:prstGeom prst="roundRect">
            <a:avLst>
              <a:gd fmla="val 6957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22960" y="1819656"/>
            <a:ext cx="512064" cy="512064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822960" y="1819656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554480" y="17190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¿Por qué son importantes?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554480" y="2048256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Son la base cuantitativa del modelo: K-Means calcula la distancia entre clientes a partir de estos 4 valores (previamente estandarizados), por lo que determinan directamente cuántos segmentos se forman y qué cliente queda en cada uno.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5" name="Google Shape;65;p3"/>
          <p:cNvGraphicFramePr/>
          <p:nvPr/>
        </p:nvGraphicFramePr>
        <p:xfrm>
          <a:off x="548640" y="2880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{D4C53F58-EB1F-4049-8362-224A4B6C9E4B}</a:tableStyleId>
              </a:tblPr>
              <a:tblGrid>
                <a:gridCol w="1005850"/>
                <a:gridCol w="5971025"/>
                <a:gridCol w="2057400"/>
                <a:gridCol w="205740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Var.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Promedio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Rango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761"/>
                          </a:solidFill>
                        </a:rPr>
                        <a:t>V1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06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506B"/>
                          </a:solidFill>
                        </a:rPr>
                        <a:t>CustomerLifetimeValue (valor del cliente)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06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506B"/>
                          </a:solidFill>
                        </a:rPr>
                        <a:t>$8,005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06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506B"/>
                          </a:solidFill>
                        </a:rPr>
                        <a:t>$1,898 – $83,325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761"/>
                          </a:solidFill>
                        </a:rPr>
                        <a:t>V2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06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506B"/>
                          </a:solidFill>
                        </a:rPr>
                        <a:t>Income (ingreso del cliente)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06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506B"/>
                          </a:solidFill>
                        </a:rPr>
                        <a:t>$37,657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06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506B"/>
                          </a:solidFill>
                        </a:rPr>
                        <a:t>$0 – $99,981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761"/>
                          </a:solidFill>
                        </a:rPr>
                        <a:t>V3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06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506B"/>
                          </a:solidFill>
                        </a:rPr>
                        <a:t>MonthlyPremiumAuto (prima mensual)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06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506B"/>
                          </a:solidFill>
                        </a:rPr>
                        <a:t>$93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06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506B"/>
                          </a:solidFill>
                        </a:rPr>
                        <a:t>$61 – $298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761"/>
                          </a:solidFill>
                        </a:rPr>
                        <a:t>V4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06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506B"/>
                          </a:solidFill>
                        </a:rPr>
                        <a:t>ClaimAmount (monto de reclamaciones)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06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506B"/>
                          </a:solidFill>
                        </a:rPr>
                        <a:t>$434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06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506B"/>
                          </a:solidFill>
                        </a:rPr>
                        <a:t>$0 – $2,893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6" name="Google Shape;66;p3"/>
          <p:cNvSpPr/>
          <p:nvPr/>
        </p:nvSpPr>
        <p:spPr>
          <a:xfrm>
            <a:off x="548640" y="544068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Nota: 9,134 clientes en total · 0 valores nulos en las 4 variables.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48640" y="5760720"/>
            <a:ext cx="11091672" cy="777240"/>
          </a:xfrm>
          <a:prstGeom prst="roundRect">
            <a:avLst>
              <a:gd fmla="val 9412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77240" y="591616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77240" y="59161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417320" y="58521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Distribución y escala:  </a:t>
            </a:r>
            <a:r>
              <a:rPr lang="en-US" sz="11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las 4 variables tienen escalas muy distintas y sesgo positivo con valores atípicos (sobre todo en CustomerLifetimeValue e Income), por eso se estandarizaron (media 0, desviación 1) antes de aplicar K-Means.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Descripción de las Variables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Variables Categóricas  ·  usadas para perfilar los segmentos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566928" y="1280160"/>
            <a:ext cx="502920" cy="6400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48640" y="1554480"/>
            <a:ext cx="11091672" cy="1051560"/>
          </a:xfrm>
          <a:prstGeom prst="roundRect">
            <a:avLst>
              <a:gd fmla="val 6957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822960" y="1819656"/>
            <a:ext cx="512064" cy="512064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822960" y="1819656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554480" y="17190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¿Por qué son importantes?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554480" y="2048256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No participan en el cálculo de K-Means, pero permiten interpretar cada segmento: describen quién es el cliente y cómo se relaciona con la aseguradora, lo que hace posible traducir los clústeres en estrategias de marketing y retención concretas.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48640" y="2743200"/>
            <a:ext cx="3563112" cy="1737360"/>
          </a:xfrm>
          <a:prstGeom prst="roundRect">
            <a:avLst>
              <a:gd fmla="val 4211" name="adj"/>
            </a:avLst>
          </a:prstGeom>
          <a:solidFill>
            <a:srgbClr val="F4F6FC"/>
          </a:solidFill>
          <a:ln cap="flat" cmpd="sng" w="12700">
            <a:solidFill>
              <a:srgbClr val="E1E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777240" y="2971800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777240" y="29718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325880" y="2962656"/>
            <a:ext cx="2602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Coverage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1325880" y="3227832"/>
            <a:ext cx="26029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Nivel de cobertura del seguro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4"/>
          <p:cNvCxnSpPr/>
          <p:nvPr/>
        </p:nvCxnSpPr>
        <p:spPr>
          <a:xfrm>
            <a:off x="777240" y="3611880"/>
            <a:ext cx="3105912" cy="0"/>
          </a:xfrm>
          <a:prstGeom prst="straightConnector1">
            <a:avLst/>
          </a:prstGeom>
          <a:noFill/>
          <a:ln cap="flat" cmpd="sng" w="9525">
            <a:solidFill>
              <a:srgbClr val="D9D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4"/>
          <p:cNvSpPr/>
          <p:nvPr/>
        </p:nvSpPr>
        <p:spPr>
          <a:xfrm>
            <a:off x="777240" y="3703320"/>
            <a:ext cx="31059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Categorías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777240" y="3913632"/>
            <a:ext cx="31059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Basic  ·  Extended  ·  Premium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312920" y="2743200"/>
            <a:ext cx="3563112" cy="1737360"/>
          </a:xfrm>
          <a:prstGeom prst="roundRect">
            <a:avLst>
              <a:gd fmla="val 4211" name="adj"/>
            </a:avLst>
          </a:prstGeom>
          <a:solidFill>
            <a:srgbClr val="F4F6FC"/>
          </a:solidFill>
          <a:ln cap="flat" cmpd="sng" w="12700">
            <a:solidFill>
              <a:srgbClr val="E1E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541520" y="2971800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541520" y="3188277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090160" y="2962656"/>
            <a:ext cx="2602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EmploymentStatus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090160" y="3227832"/>
            <a:ext cx="26029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Estado laboral del cliente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4"/>
          <p:cNvCxnSpPr/>
          <p:nvPr/>
        </p:nvCxnSpPr>
        <p:spPr>
          <a:xfrm>
            <a:off x="4541520" y="3611880"/>
            <a:ext cx="3105912" cy="0"/>
          </a:xfrm>
          <a:prstGeom prst="straightConnector1">
            <a:avLst/>
          </a:prstGeom>
          <a:noFill/>
          <a:ln cap="flat" cmpd="sng" w="9525">
            <a:solidFill>
              <a:srgbClr val="D9D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4"/>
          <p:cNvSpPr/>
          <p:nvPr/>
        </p:nvSpPr>
        <p:spPr>
          <a:xfrm>
            <a:off x="4541520" y="3703320"/>
            <a:ext cx="31059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Categorías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541520" y="3913632"/>
            <a:ext cx="31059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Employed  ·  Unemployed  ·  Medical Leave  ·  Disabled  ·  Retired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8077200" y="2743200"/>
            <a:ext cx="3563112" cy="1737360"/>
          </a:xfrm>
          <a:prstGeom prst="roundRect">
            <a:avLst>
              <a:gd fmla="val 4211" name="adj"/>
            </a:avLst>
          </a:prstGeom>
          <a:solidFill>
            <a:srgbClr val="F4F6FC"/>
          </a:solidFill>
          <a:ln cap="flat" cmpd="sng" w="12700">
            <a:solidFill>
              <a:srgbClr val="E1E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8305800" y="2971800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8305800" y="29718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8854440" y="2962656"/>
            <a:ext cx="2602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Gender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8854440" y="3227832"/>
            <a:ext cx="26029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Género del cliente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4"/>
          <p:cNvCxnSpPr/>
          <p:nvPr/>
        </p:nvCxnSpPr>
        <p:spPr>
          <a:xfrm>
            <a:off x="8305800" y="3611880"/>
            <a:ext cx="3105912" cy="0"/>
          </a:xfrm>
          <a:prstGeom prst="straightConnector1">
            <a:avLst/>
          </a:prstGeom>
          <a:noFill/>
          <a:ln cap="flat" cmpd="sng" w="9525">
            <a:solidFill>
              <a:srgbClr val="D9D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4"/>
          <p:cNvSpPr/>
          <p:nvPr/>
        </p:nvSpPr>
        <p:spPr>
          <a:xfrm>
            <a:off x="8305800" y="3703320"/>
            <a:ext cx="31059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Categorías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8305800" y="3913632"/>
            <a:ext cx="31059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F  ·  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48640" y="4681728"/>
            <a:ext cx="3563112" cy="1737360"/>
          </a:xfrm>
          <a:prstGeom prst="roundRect">
            <a:avLst>
              <a:gd fmla="val 4211" name="adj"/>
            </a:avLst>
          </a:prstGeom>
          <a:solidFill>
            <a:srgbClr val="F4F6FC"/>
          </a:solidFill>
          <a:ln cap="flat" cmpd="sng" w="12700">
            <a:solidFill>
              <a:srgbClr val="E1E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777240" y="4910328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777240" y="491032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325880" y="4901184"/>
            <a:ext cx="2602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MaritalStatus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1325880" y="5166360"/>
            <a:ext cx="26029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Estado civil del cliente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4"/>
          <p:cNvCxnSpPr/>
          <p:nvPr/>
        </p:nvCxnSpPr>
        <p:spPr>
          <a:xfrm>
            <a:off x="777240" y="5550408"/>
            <a:ext cx="3105912" cy="0"/>
          </a:xfrm>
          <a:prstGeom prst="straightConnector1">
            <a:avLst/>
          </a:prstGeom>
          <a:noFill/>
          <a:ln cap="flat" cmpd="sng" w="9525">
            <a:solidFill>
              <a:srgbClr val="D9D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4"/>
          <p:cNvSpPr/>
          <p:nvPr/>
        </p:nvSpPr>
        <p:spPr>
          <a:xfrm>
            <a:off x="777240" y="5641848"/>
            <a:ext cx="31059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Categorías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777240" y="5852160"/>
            <a:ext cx="31059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Married  ·  Single  ·  Divorced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312920" y="4681728"/>
            <a:ext cx="3563112" cy="1737360"/>
          </a:xfrm>
          <a:prstGeom prst="roundRect">
            <a:avLst>
              <a:gd fmla="val 4211" name="adj"/>
            </a:avLst>
          </a:prstGeom>
          <a:solidFill>
            <a:srgbClr val="F4F6FC"/>
          </a:solidFill>
          <a:ln cap="flat" cmpd="sng" w="12700">
            <a:solidFill>
              <a:srgbClr val="E1E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541520" y="4910328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541520" y="491032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090160" y="4901184"/>
            <a:ext cx="2602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SalesChannel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090160" y="5166360"/>
            <a:ext cx="26029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Canal de venta del seguro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4541520" y="5550408"/>
            <a:ext cx="3105912" cy="0"/>
          </a:xfrm>
          <a:prstGeom prst="straightConnector1">
            <a:avLst/>
          </a:prstGeom>
          <a:noFill/>
          <a:ln cap="flat" cmpd="sng" w="9525">
            <a:solidFill>
              <a:srgbClr val="D9D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4"/>
          <p:cNvSpPr/>
          <p:nvPr/>
        </p:nvSpPr>
        <p:spPr>
          <a:xfrm>
            <a:off x="4541520" y="5641848"/>
            <a:ext cx="31059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Categorías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541520" y="5852160"/>
            <a:ext cx="31059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Agent  ·  Call Center  ·  Web  ·  Branch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8077200" y="4681728"/>
            <a:ext cx="3563112" cy="1737360"/>
          </a:xfrm>
          <a:prstGeom prst="roundRect">
            <a:avLst>
              <a:gd fmla="val 4211" name="adj"/>
            </a:avLst>
          </a:prstGeom>
          <a:solidFill>
            <a:srgbClr val="F4F6FC"/>
          </a:solidFill>
          <a:ln cap="flat" cmpd="sng" w="12700">
            <a:solidFill>
              <a:srgbClr val="E1E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8305800" y="4910328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8305800" y="491032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8854440" y="4901184"/>
            <a:ext cx="2602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VehicleClass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8854440" y="5166360"/>
            <a:ext cx="26029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Clase de vehículo del cliente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4"/>
          <p:cNvCxnSpPr/>
          <p:nvPr/>
        </p:nvCxnSpPr>
        <p:spPr>
          <a:xfrm>
            <a:off x="8305800" y="5550408"/>
            <a:ext cx="3105912" cy="0"/>
          </a:xfrm>
          <a:prstGeom prst="straightConnector1">
            <a:avLst/>
          </a:prstGeom>
          <a:noFill/>
          <a:ln cap="flat" cmpd="sng" w="9525">
            <a:solidFill>
              <a:srgbClr val="D9D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4"/>
          <p:cNvSpPr/>
          <p:nvPr/>
        </p:nvSpPr>
        <p:spPr>
          <a:xfrm>
            <a:off x="8305800" y="5641848"/>
            <a:ext cx="31059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Categorías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8305800" y="5852160"/>
            <a:ext cx="31059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Two-Door Car  ·  Four-Door Car  ·  SUV  ·  Luxury SUV  ·  Sports Car  ·  Luxury Car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527b7d6d9_1_0"/>
          <p:cNvSpPr/>
          <p:nvPr/>
        </p:nvSpPr>
        <p:spPr>
          <a:xfrm>
            <a:off x="548640" y="36576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Resultados del modelo de clúster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f527b7d6d9_1_0"/>
          <p:cNvSpPr/>
          <p:nvPr/>
        </p:nvSpPr>
        <p:spPr>
          <a:xfrm>
            <a:off x="548640" y="86868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500"/>
              <a:buFont typeface="Calibri"/>
              <a:buNone/>
            </a:pPr>
            <a:r>
              <a:rPr b="1" i="1" lang="en-US" sz="15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Modelo de 8 variables: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g3f527b7d6d9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25" y="1876442"/>
            <a:ext cx="4191000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f527b7d6d9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4475" y="1876455"/>
            <a:ext cx="5781675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f527b7d6d9_1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225" y="5261730"/>
            <a:ext cx="5762625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f527b7d6d9_1_0"/>
          <p:cNvSpPr/>
          <p:nvPr/>
        </p:nvSpPr>
        <p:spPr>
          <a:xfrm>
            <a:off x="392424" y="1510750"/>
            <a:ext cx="3042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Elección del mejor K para el modelo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f527b7d6d9_1_0"/>
          <p:cNvSpPr/>
          <p:nvPr/>
        </p:nvSpPr>
        <p:spPr>
          <a:xfrm>
            <a:off x="5304475" y="1510750"/>
            <a:ext cx="6608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Visualización de los clústeres mediante Análisis de Componentes Principales (PCA)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f527b7d6d9_1_0"/>
          <p:cNvSpPr/>
          <p:nvPr/>
        </p:nvSpPr>
        <p:spPr>
          <a:xfrm>
            <a:off x="331226" y="4823575"/>
            <a:ext cx="5217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Media de las variables según el segmento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527b7d6d9_3_0"/>
          <p:cNvSpPr/>
          <p:nvPr/>
        </p:nvSpPr>
        <p:spPr>
          <a:xfrm>
            <a:off x="548640" y="86868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Modelo de 4 variables: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f527b7d6d9_3_0"/>
          <p:cNvSpPr/>
          <p:nvPr/>
        </p:nvSpPr>
        <p:spPr>
          <a:xfrm>
            <a:off x="548640" y="36576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Resultados del modelo de clúster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g3f527b7d6d9_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950" y="4580700"/>
            <a:ext cx="11258550" cy="217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f527b7d6d9_3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950" y="1808280"/>
            <a:ext cx="4741266" cy="2289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f527b7d6d9_3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9775" y="1808275"/>
            <a:ext cx="4719925" cy="228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f527b7d6d9_3_0"/>
          <p:cNvSpPr/>
          <p:nvPr/>
        </p:nvSpPr>
        <p:spPr>
          <a:xfrm>
            <a:off x="330949" y="1506900"/>
            <a:ext cx="3042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Elección del mejor K para el modelo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f527b7d6d9_3_0"/>
          <p:cNvSpPr/>
          <p:nvPr/>
        </p:nvSpPr>
        <p:spPr>
          <a:xfrm>
            <a:off x="5309775" y="1506900"/>
            <a:ext cx="6693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Visualización de los clústeres mediante Análisis de Componentes Principales (PCA)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f527b7d6d9_3_0"/>
          <p:cNvSpPr/>
          <p:nvPr/>
        </p:nvSpPr>
        <p:spPr>
          <a:xfrm>
            <a:off x="548651" y="4215000"/>
            <a:ext cx="5271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Boxplots de las 4 variables </a:t>
            </a:r>
            <a:r>
              <a:rPr lang="en-US" sz="15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numéricas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527b7d6d9_1_73"/>
          <p:cNvSpPr/>
          <p:nvPr/>
        </p:nvSpPr>
        <p:spPr>
          <a:xfrm>
            <a:off x="548640" y="86868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Modelo de 4 variables (Winzorización):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f527b7d6d9_1_73"/>
          <p:cNvSpPr/>
          <p:nvPr/>
        </p:nvSpPr>
        <p:spPr>
          <a:xfrm>
            <a:off x="548640" y="36576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Resultados del modelo de clúster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g3f527b7d6d9_1_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4512325"/>
            <a:ext cx="11001375" cy="226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f527b7d6d9_1_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1872605"/>
            <a:ext cx="4232920" cy="2261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3f527b7d6d9_1_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9770" y="1872605"/>
            <a:ext cx="4794567" cy="226129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f527b7d6d9_1_73"/>
          <p:cNvSpPr/>
          <p:nvPr/>
        </p:nvSpPr>
        <p:spPr>
          <a:xfrm>
            <a:off x="330949" y="1506900"/>
            <a:ext cx="3042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Elección del mejor K para el modelo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f527b7d6d9_1_73"/>
          <p:cNvSpPr/>
          <p:nvPr/>
        </p:nvSpPr>
        <p:spPr>
          <a:xfrm>
            <a:off x="5309775" y="1506900"/>
            <a:ext cx="6693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Visualización de los clústeres mediante Análisis de Componentes Principales (PCA)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f527b7d6d9_1_73"/>
          <p:cNvSpPr/>
          <p:nvPr/>
        </p:nvSpPr>
        <p:spPr>
          <a:xfrm>
            <a:off x="330951" y="4133900"/>
            <a:ext cx="5271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Boxplots de las 4 variables numéricas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527b7d6d9_1_78"/>
          <p:cNvSpPr/>
          <p:nvPr/>
        </p:nvSpPr>
        <p:spPr>
          <a:xfrm>
            <a:off x="548640" y="86868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Modelo de 4 variables (Transformación </a:t>
            </a:r>
            <a:r>
              <a:rPr i="1" lang="en-US" sz="15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Logarítmica</a:t>
            </a:r>
            <a:r>
              <a:rPr i="1" lang="en-US" sz="15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):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f527b7d6d9_1_78"/>
          <p:cNvSpPr/>
          <p:nvPr/>
        </p:nvSpPr>
        <p:spPr>
          <a:xfrm>
            <a:off x="548640" y="36576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Resultados del modelo de clúster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g3f527b7d6d9_1_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950" y="4426450"/>
            <a:ext cx="10963275" cy="2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f527b7d6d9_1_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950" y="2016492"/>
            <a:ext cx="4238625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f527b7d6d9_1_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9775" y="2016492"/>
            <a:ext cx="4581325" cy="223272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f527b7d6d9_1_78"/>
          <p:cNvSpPr/>
          <p:nvPr/>
        </p:nvSpPr>
        <p:spPr>
          <a:xfrm>
            <a:off x="330949" y="1589125"/>
            <a:ext cx="3042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Elección del mejor K para el modelo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f527b7d6d9_1_78"/>
          <p:cNvSpPr/>
          <p:nvPr/>
        </p:nvSpPr>
        <p:spPr>
          <a:xfrm>
            <a:off x="5309775" y="1621575"/>
            <a:ext cx="6693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Visualización de los clústeres mediante Análisis de Componentes Principales (PCA)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f527b7d6d9_1_78"/>
          <p:cNvSpPr/>
          <p:nvPr/>
        </p:nvSpPr>
        <p:spPr>
          <a:xfrm>
            <a:off x="330951" y="4133900"/>
            <a:ext cx="5271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Boxplots de las 4 variables numéricas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527b7d6d9_1_90"/>
          <p:cNvSpPr/>
          <p:nvPr/>
        </p:nvSpPr>
        <p:spPr>
          <a:xfrm>
            <a:off x="548640" y="36576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Comparativa de modelos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g3f527b7d6d9_1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775" y="1230863"/>
            <a:ext cx="9429750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f527b7d6d9_1_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775" y="2917175"/>
            <a:ext cx="4965201" cy="392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f527b7d6d9_1_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7650" y="2864100"/>
            <a:ext cx="6119249" cy="337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f527b7d6d9_1_90"/>
          <p:cNvSpPr/>
          <p:nvPr/>
        </p:nvSpPr>
        <p:spPr>
          <a:xfrm>
            <a:off x="665774" y="868550"/>
            <a:ext cx="3042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Comparativa de siluetas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f527b7d6d9_1_90"/>
          <p:cNvSpPr/>
          <p:nvPr/>
        </p:nvSpPr>
        <p:spPr>
          <a:xfrm>
            <a:off x="606699" y="2498400"/>
            <a:ext cx="3042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Comparativa de siluetas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f527b7d6d9_1_90"/>
          <p:cNvSpPr/>
          <p:nvPr/>
        </p:nvSpPr>
        <p:spPr>
          <a:xfrm>
            <a:off x="5867650" y="2498400"/>
            <a:ext cx="356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Visualización PCA de los 4 modelos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527b7d6d9_1_108"/>
          <p:cNvSpPr/>
          <p:nvPr/>
        </p:nvSpPr>
        <p:spPr>
          <a:xfrm>
            <a:off x="548640" y="36576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Perfil de los segmentos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g3f527b7d6d9_1_108" title="Subplots_Perfilamiento_Segment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700" y="1234250"/>
            <a:ext cx="10583777" cy="541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f527b7d6d9_1_108"/>
          <p:cNvSpPr/>
          <p:nvPr/>
        </p:nvSpPr>
        <p:spPr>
          <a:xfrm>
            <a:off x="245703" y="868550"/>
            <a:ext cx="1081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Distribución de las variables categóricas por segmento obtenido mediante K-Means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527b7d6d9_1_115"/>
          <p:cNvSpPr/>
          <p:nvPr/>
        </p:nvSpPr>
        <p:spPr>
          <a:xfrm>
            <a:off x="548640" y="36576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Perfil de los segmentos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g3f527b7d6d9_1_115" title="Cuadro_Perfilamiento_Segment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20960"/>
            <a:ext cx="11270226" cy="5684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527b7d6d9_0_0"/>
          <p:cNvSpPr/>
          <p:nvPr/>
        </p:nvSpPr>
        <p:spPr>
          <a:xfrm>
            <a:off x="548640" y="36576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Conclusiones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f527b7d6d9_0_0"/>
          <p:cNvSpPr/>
          <p:nvPr/>
        </p:nvSpPr>
        <p:spPr>
          <a:xfrm>
            <a:off x="566928" y="1280160"/>
            <a:ext cx="502800" cy="639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f527b7d6d9_0_0"/>
          <p:cNvSpPr/>
          <p:nvPr/>
        </p:nvSpPr>
        <p:spPr>
          <a:xfrm>
            <a:off x="548640" y="1554480"/>
            <a:ext cx="11091600" cy="1051500"/>
          </a:xfrm>
          <a:prstGeom prst="roundRect">
            <a:avLst>
              <a:gd fmla="val 6957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f527b7d6d9_0_0"/>
          <p:cNvSpPr/>
          <p:nvPr/>
        </p:nvSpPr>
        <p:spPr>
          <a:xfrm>
            <a:off x="822960" y="1819656"/>
            <a:ext cx="512100" cy="5121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f527b7d6d9_0_0"/>
          <p:cNvSpPr/>
          <p:nvPr/>
        </p:nvSpPr>
        <p:spPr>
          <a:xfrm>
            <a:off x="822960" y="1819656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f527b7d6d9_0_0"/>
          <p:cNvSpPr/>
          <p:nvPr/>
        </p:nvSpPr>
        <p:spPr>
          <a:xfrm>
            <a:off x="1570955" y="1915647"/>
            <a:ext cx="9875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Resumen breve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g3f527b7d6d9_0_0"/>
          <p:cNvCxnSpPr/>
          <p:nvPr/>
        </p:nvCxnSpPr>
        <p:spPr>
          <a:xfrm>
            <a:off x="4541520" y="3611880"/>
            <a:ext cx="3105900" cy="0"/>
          </a:xfrm>
          <a:prstGeom prst="straightConnector1">
            <a:avLst/>
          </a:prstGeom>
          <a:noFill/>
          <a:ln cap="flat" cmpd="sng" w="9525">
            <a:solidFill>
              <a:srgbClr val="D9D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g3f527b7d6d9_0_0"/>
          <p:cNvSpPr/>
          <p:nvPr/>
        </p:nvSpPr>
        <p:spPr>
          <a:xfrm>
            <a:off x="548650" y="2685875"/>
            <a:ext cx="11091600" cy="3752100"/>
          </a:xfrm>
          <a:prstGeom prst="roundRect">
            <a:avLst>
              <a:gd fmla="val 3137" name="adj"/>
            </a:avLst>
          </a:prstGeom>
          <a:solidFill>
            <a:srgbClr val="F4F6FC"/>
          </a:solidFill>
          <a:ln cap="flat" cmpd="sng" w="12700">
            <a:solidFill>
              <a:srgbClr val="E1E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f527b7d6d9_0_0"/>
          <p:cNvSpPr/>
          <p:nvPr/>
        </p:nvSpPr>
        <p:spPr>
          <a:xfrm>
            <a:off x="3609300" y="2789225"/>
            <a:ext cx="5798700" cy="3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La aplicación del algoritmo K-Means permitió segmentar a los 9,134 clientes de la aseguradora en grupos homogéneos utilizando las variables CustomerLifetimeValue, Income, MonthlyPremiumAuto y ClaimAmount. La estandarización de estas variables fue necesaria debido a sus diferentes escalas y a la presencia de valores atípicos, permitiendo que el algoritmo realizara una agrupación adecuada.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Asimismo, la evaluación de distintos valores de k mediante el coeficiente de Silhouette permitió seleccionar el número de clústeres con mejor nivel de separación y cohesión, obteniendo una segmentación consistente para el análisis.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Posteriormente, la caracterización de cada segmento y su perfil mediante variables categóricas como Coverage, EmploymentStatus, Gender, MaritalStatus, SalesChannel y VehicleClass facilitó la comprensión del comportamiento de los clientes desde una perspectiva comercial y de riesgo.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En conjunto, la segmentación obtenida constituye una herramienta útil para que la aseguradora diseñe estrategias diferenciadas de captación, fidelización, retención y gestión del riesgo, optimizando la asignación de recursos y mejorando la toma de decisiones basada en datos.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f527b7d6d9_0_0"/>
          <p:cNvSpPr/>
          <p:nvPr/>
        </p:nvSpPr>
        <p:spPr>
          <a:xfrm>
            <a:off x="2833220" y="3011788"/>
            <a:ext cx="420600" cy="4206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f527b7d6d9_0_0"/>
          <p:cNvSpPr/>
          <p:nvPr/>
        </p:nvSpPr>
        <p:spPr>
          <a:xfrm>
            <a:off x="2833220" y="4032450"/>
            <a:ext cx="420600" cy="4206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f527b7d6d9_0_0"/>
          <p:cNvSpPr/>
          <p:nvPr/>
        </p:nvSpPr>
        <p:spPr>
          <a:xfrm>
            <a:off x="2812427" y="4824575"/>
            <a:ext cx="420600" cy="4206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f527b7d6d9_0_0"/>
          <p:cNvSpPr/>
          <p:nvPr/>
        </p:nvSpPr>
        <p:spPr>
          <a:xfrm>
            <a:off x="2812365" y="5616700"/>
            <a:ext cx="420600" cy="4206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f527b7d6d9_0_0"/>
          <p:cNvSpPr/>
          <p:nvPr/>
        </p:nvSpPr>
        <p:spPr>
          <a:xfrm>
            <a:off x="2833215" y="3004272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f527b7d6d9_0_0"/>
          <p:cNvSpPr/>
          <p:nvPr/>
        </p:nvSpPr>
        <p:spPr>
          <a:xfrm>
            <a:off x="2833215" y="4032450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f527b7d6d9_0_0"/>
          <p:cNvSpPr/>
          <p:nvPr/>
        </p:nvSpPr>
        <p:spPr>
          <a:xfrm>
            <a:off x="2877375" y="4762938"/>
            <a:ext cx="420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1" sz="17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5" name="Google Shape;225;g3f527b7d6d9_0_0"/>
          <p:cNvSpPr/>
          <p:nvPr/>
        </p:nvSpPr>
        <p:spPr>
          <a:xfrm>
            <a:off x="2844049" y="5575625"/>
            <a:ext cx="420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1" sz="17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g3f527b7d6d9_3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g3f527b7d6d9_3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g3f527b7d6d9_3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g3f527b7d6d9_3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g3f527b7d6d9_3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g3f527b7d6d9_3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g3f527b7d6d9_3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70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2026-07-14T02:51:49Z</dcterms:created>
  <dc:creator>PptxGenJS</dc:creator>
</cp:coreProperties>
</file>